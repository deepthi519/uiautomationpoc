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b11c11998704bc7" /><Relationship Type="http://schemas.openxmlformats.org/package/2006/relationships/metadata/core-properties" Target="/docProps/core.xml" Id="R3284d169b390420e" /><Relationship Type="http://schemas.openxmlformats.org/officeDocument/2006/relationships/extended-properties" Target="/docProps/app.xml" Id="R43b0703027db4ca8" /><Relationship Type="http://schemas.openxmlformats.org/officeDocument/2006/relationships/custom-properties" Target="/docProps/custom.xml" Id="Rd46cb711bd774a3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fdf3abc8155d4883"/>
  </p:notesMasterIdLst>
  <p:sldIdLst>
    <p:sldId id="256" r:id="R292eacd12fa54855"/>
    <p:sldId id="257" r:id="R5ef36e9474304412"/>
    <p:sldId id="258" r:id="Reea247e9a83a486e"/>
    <p:sldId id="259" r:id="R5f032324c8bf4124"/>
    <p:sldId id="260" r:id="R5c5c2a271b7d4da0"/>
    <p:sldId id="261" r:id="R9f967905fc6241c3"/>
    <p:sldId id="262" r:id="R64bbce53cd8649f8"/>
    <p:sldId id="263" r:id="Rc9b688cfa98e4054"/>
    <p:sldId id="264" r:id="R86938dc5257049a0"/>
    <p:sldId id="265" r:id="R6b08e4f165c94520"/>
    <p:sldId id="266" r:id="R310ea3169f644c13"/>
    <p:sldId id="267" r:id="R5af83be024c941b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92eacd12fa54855" /><Relationship Type="http://schemas.openxmlformats.org/officeDocument/2006/relationships/notesMaster" Target="/ppt/notesMasters/notesMaster1.xml" Id="Rfdf3abc8155d4883" /><Relationship Type="http://schemas.openxmlformats.org/officeDocument/2006/relationships/slide" Target="/ppt/slides/slide2.xml" Id="R5ef36e9474304412" /><Relationship Type="http://schemas.openxmlformats.org/officeDocument/2006/relationships/slide" Target="/ppt/slides/slide3.xml" Id="Reea247e9a83a486e" /><Relationship Type="http://schemas.openxmlformats.org/officeDocument/2006/relationships/slide" Target="/ppt/slides/slide4.xml" Id="R5f032324c8bf4124" /><Relationship Type="http://schemas.openxmlformats.org/officeDocument/2006/relationships/slide" Target="/ppt/slides/slide5.xml" Id="R5c5c2a271b7d4da0" /><Relationship Type="http://schemas.openxmlformats.org/officeDocument/2006/relationships/slide" Target="/ppt/slides/slide6.xml" Id="R9f967905fc6241c3" /><Relationship Type="http://schemas.openxmlformats.org/officeDocument/2006/relationships/slide" Target="/ppt/slides/slide7.xml" Id="R64bbce53cd8649f8" /><Relationship Type="http://schemas.openxmlformats.org/officeDocument/2006/relationships/slide" Target="/ppt/slides/slide8.xml" Id="Rc9b688cfa98e4054" /><Relationship Type="http://schemas.openxmlformats.org/officeDocument/2006/relationships/slide" Target="/ppt/slides/slide9.xml" Id="R86938dc5257049a0" /><Relationship Type="http://schemas.openxmlformats.org/officeDocument/2006/relationships/slide" Target="/ppt/slides/slide10.xml" Id="R6b08e4f165c94520" /><Relationship Type="http://schemas.openxmlformats.org/officeDocument/2006/relationships/slide" Target="/ppt/slides/slide11.xml" Id="R310ea3169f644c13" /><Relationship Type="http://schemas.openxmlformats.org/officeDocument/2006/relationships/slide" Target="/ppt/slides/slide12.xml" Id="R5af83be024c941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015f8f0f9df47f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cca6f991d174036" /><Relationship Type="http://schemas.openxmlformats.org/officeDocument/2006/relationships/slide" Target="/ppt/slides/slide1.xml" Id="Rb00b11c2747e4f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f499dbae5db4d4b" /><Relationship Type="http://schemas.openxmlformats.org/officeDocument/2006/relationships/slide" Target="/ppt/slides/slide2.xml" Id="R08b7e637291e47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08880e4ba3e40d5" /><Relationship Type="http://schemas.openxmlformats.org/officeDocument/2006/relationships/slide" Target="/ppt/slides/slide3.xml" Id="Ra579032899b745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132ec160d344f57" /><Relationship Type="http://schemas.openxmlformats.org/officeDocument/2006/relationships/slide" Target="/ppt/slides/slide4.xml" Id="R42fd1ebb896b43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287105da9184c4c" /><Relationship Type="http://schemas.openxmlformats.org/officeDocument/2006/relationships/slide" Target="/ppt/slides/slide5.xml" Id="Ra4906db3e0b644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3284913e5994253" /><Relationship Type="http://schemas.openxmlformats.org/officeDocument/2006/relationships/slide" Target="/ppt/slides/slide6.xml" Id="R9340d8946c754b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e553ad5ce434356" /><Relationship Type="http://schemas.openxmlformats.org/officeDocument/2006/relationships/slide" Target="/ppt/slides/slide7.xml" Id="Ree9ac20481ba4b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4038c5dd2d24d29" /><Relationship Type="http://schemas.openxmlformats.org/officeDocument/2006/relationships/slide" Target="/ppt/slides/slide8.xml" Id="R24640d41376948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418ccc0d68c4438" /><Relationship Type="http://schemas.openxmlformats.org/officeDocument/2006/relationships/slide" Target="/ppt/slides/slide9.xml" Id="Ra6ca9784d3b54b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391fb9edc94ade" /><Relationship Type="http://schemas.openxmlformats.org/officeDocument/2006/relationships/slide" Target="/ppt/slides/slide10.xml" Id="R4ae44459e51045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31fe00b09244687" /><Relationship Type="http://schemas.openxmlformats.org/officeDocument/2006/relationships/slide" Target="/ppt/slides/slide11.xml" Id="R2aa4f718b2b246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ac6755ea40e4946" /><Relationship Type="http://schemas.openxmlformats.org/officeDocument/2006/relationships/slide" Target="/ppt/slides/slide12.xml" Id="Rf9ecbc652cfd4c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 slide. This presentation demonstrates the migration of a Selenium Java test automation framework to Playwright TypeScript, powered by IBM BOB AI assistant.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the five agenda items. Emphasise that this is a live working POC — both frameworks are running today in the same project folder.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the starting point. The framework was built on Selenium Java with Cucumber BDD. Before touching Playwright, we needed a clean 21/21 baseline. Highlight the git tag selenium-baseline-v1.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each bug. The stale driver bug was the hardest — Cucumber reuses step definition instances across scenarios while @Before creates a new driver each time. Highlight the git tag — this is the measurable comparison point.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Section divider slide. Transition: now that we have 21/21 passing in Selenium, we freeze it and begin the IBM BOB assisted migration to Playwright.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the 4-step IBM BOB workflow. Key point: BOB never speculates. It reads the actual files first (GetSymbolsOverview, read_file), then writes the TypeScript output grounded in what it found.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the code side by side. The structure is identical — same methods, same logic, different syntax. Key difference: Playwright auto-waits, so no WebDriverWait boilerplate is needed for fill/click. Only the post-login URL wait is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Show how the Cucumber BDD concepts map directly. Background becomes beforeEach. Each Scenario becomes a test() block. Given/When/Then steps become inline awaits. The story the test tells is identical — only the format changes.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Show both results side by side. Point out the speed difference: Selenium takes 3 min 21 sec for 21 tests. Playwright takes 45 seconds for 13 tests (less tests but much faster per test). Playwright runs are ~4x faster per scenario.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each row of the comparison table. Emphasise the waiting row — this is the biggest productivity win. No more WebDriverWait boilerplate. Also highlight the driver lifecycle row — Playwright's page fixture eliminates the ThreadLocal pattern entirely.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Show the roadmap. 2 modules done (13 tests). 3 modules remaining (Cart 4 + Checkout 3 + Logout 2 = 9 tests). Future work: CI pipeline, parallel execution across Chromium/Firefox/WebKit.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slide. Thank the audience. Invite questions. Be ready to demo the live test run: open terminal, cd playwright-login, npx playwright test --headed to show the browser.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794834a7e45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7fd6f8f7b4e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32db2f5124c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7c69ce0fd4e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a79273cc3745b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cbf18b14c11447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b0c9d53c540d2" /><Relationship Type="http://schemas.openxmlformats.org/officeDocument/2006/relationships/notesSlide" Target="/ppt/notesSlides/notesSlide1.xml" Id="Re76933974bac4a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a9ba3620443b5" /><Relationship Type="http://schemas.openxmlformats.org/officeDocument/2006/relationships/notesSlide" Target="/ppt/notesSlides/notesSlide2.xml" Id="R904f5011d80f41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0942aef134c22" /><Relationship Type="http://schemas.openxmlformats.org/officeDocument/2006/relationships/notesSlide" Target="/ppt/notesSlides/notesSlide3.xml" Id="Rc2066fc423a84a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fcb23d7874991" /><Relationship Type="http://schemas.openxmlformats.org/officeDocument/2006/relationships/notesSlide" Target="/ppt/notesSlides/notesSlide4.xml" Id="R62670d0db6ef4c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3a6ed120349e1" /><Relationship Type="http://schemas.openxmlformats.org/officeDocument/2006/relationships/notesSlide" Target="/ppt/notesSlides/notesSlide5.xml" Id="R09217c5176ba42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54bf9c1d94a94" /><Relationship Type="http://schemas.openxmlformats.org/officeDocument/2006/relationships/notesSlide" Target="/ppt/notesSlides/notesSlide6.xml" Id="R138bdaf8569947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20f7464ed4810" /><Relationship Type="http://schemas.openxmlformats.org/officeDocument/2006/relationships/notesSlide" Target="/ppt/notesSlides/notesSlide7.xml" Id="Ra69b0952488e4b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5d46e2c074af1" /><Relationship Type="http://schemas.openxmlformats.org/officeDocument/2006/relationships/notesSlide" Target="/ppt/notesSlides/notesSlide8.xml" Id="R9a4b44c5103c42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473e8ee374244" /><Relationship Type="http://schemas.openxmlformats.org/officeDocument/2006/relationships/notesSlide" Target="/ppt/notesSlides/notesSlide9.xml" Id="Rc45295065cfd43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aeb7e0fea4ee2" /><Relationship Type="http://schemas.openxmlformats.org/officeDocument/2006/relationships/notesSlide" Target="/ppt/notesSlides/notesSlide10.xml" Id="R0d3fd3e938f04a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36e782a5944a7" /><Relationship Type="http://schemas.openxmlformats.org/officeDocument/2006/relationships/notesSlide" Target="/ppt/notesSlides/notesSlide11.xml" Id="R34d75085a77145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cac10ec374c78" /><Relationship Type="http://schemas.openxmlformats.org/officeDocument/2006/relationships/notesSlide" Target="/ppt/notesSlides/notesSlide12.xml" Id="Rd579a1470f4948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C8A415"/>
              </a:solidFill>
            </a:endParaRP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540000" y="108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  <a:latin typeface="Calibri"/>
                <a:ea typeface="Calibri"/>
              </a:rPr>
              <a:t>Selenium to Playwright Migration POC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540000" y="234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C8A415"/>
                </a:solidFill>
                <a:latin typeface="Calibri"/>
                <a:ea typeface="Calibri"/>
              </a:rPr>
              <a:t>Powered by IBM BOB  |  SauceDemo Automation Framework</a:t>
            </a:r>
          </a:p>
        </p:txBody>
      </p:sp>
      <p:sp>
        <p:nvSpPr>
          <p:cNvPr id="100003" name="Author"/>
          <p:cNvSpPr txBox="1"/>
          <p:nvPr/>
        </p:nvSpPr>
        <p:spPr>
          <a:xfrm xmlns:a="http://schemas.openxmlformats.org/drawingml/2006/main">
            <a:off x="540000" y="306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AAAAAA"/>
                </a:solidFill>
                <a:latin typeface="Calibri"/>
                <a:ea typeface="Calibri"/>
              </a:rPr>
              <a:t>Deepthi Grandhi  |  September 2026</a:t>
            </a:r>
          </a:p>
        </p:txBody>
      </p:sp>
      <p:sp>
        <p:nvSpPr>
          <p:cNvPr id="100004" name="BottomBar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C8A415"/>
              </a:solidFill>
            </a:endParaRP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5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06" name="SlideLabel"/>
          <p:cNvSpPr txBox="1"/>
          <p:nvPr/>
        </p:nvSpPr>
        <p:spPr>
          <a:xfrm xmlns:a="http://schemas.openxmlformats.org/drawingml/2006/main">
            <a:off x="540000" y="36000"/>
            <a:ext cx="36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AGENDA</a:t>
            </a:r>
          </a:p>
        </p:txBody>
      </p:sp>
      <p:sp>
        <p:nvSpPr>
          <p:cNvPr id="100007" name="Title"/>
          <p:cNvSpPr txBox="1"/>
          <p:nvPr/>
        </p:nvSpPr>
        <p:spPr>
          <a:xfrm xmlns:a="http://schemas.openxmlformats.org/drawingml/2006/main">
            <a:off x="540000" y="432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  <a:latin typeface="Calibri"/>
                <a:ea typeface="Calibri"/>
              </a:rPr>
              <a:t>What We Will Cover</a:t>
            </a:r>
          </a:p>
        </p:txBody>
      </p:sp>
      <p:sp>
        <p:nvSpPr>
          <p:cNvPr id="100008" name="Item1"/>
          <p:cNvSpPr txBox="1"/>
          <p:nvPr/>
        </p:nvSpPr>
        <p:spPr>
          <a:xfrm xmlns:a="http://schemas.openxmlformats.org/drawingml/2006/main">
            <a:off x="540000" y="1152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E3A5F"/>
                </a:solidFill>
                <a:latin typeface="Calibri"/>
                <a:ea typeface="Calibri"/>
              </a:rPr>
              <a:t>01  Project Overview</a:t>
            </a:r>
          </a:p>
        </p:txBody>
      </p:sp>
      <p:sp>
        <p:nvSpPr>
          <p:cNvPr id="100009" name="Item1b"/>
          <p:cNvSpPr txBox="1"/>
          <p:nvPr/>
        </p:nvSpPr>
        <p:spPr>
          <a:xfrm xmlns:a="http://schemas.openxmlformats.org/drawingml/2006/main">
            <a:off x="540000" y="1476000"/>
            <a:ext cx="50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555555"/>
                </a:solidFill>
                <a:latin typeface="Calibri"/>
                <a:ea typeface="Calibri"/>
              </a:rPr>
              <a:t>Selenium Java framework — goals and baseline</a:t>
            </a:r>
          </a:p>
        </p:txBody>
      </p:sp>
      <p:sp>
        <p:nvSpPr>
          <p:cNvPr id="100010" name="Item2"/>
          <p:cNvSpPr txBox="1"/>
          <p:nvPr/>
        </p:nvSpPr>
        <p:spPr>
          <a:xfrm xmlns:a="http://schemas.openxmlformats.org/drawingml/2006/main">
            <a:off x="540000" y="1872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E3A5F"/>
                </a:solidFill>
                <a:latin typeface="Calibri"/>
                <a:ea typeface="Calibri"/>
              </a:rPr>
              <a:t>02  Selenium Baseline</a:t>
            </a:r>
          </a:p>
        </p:txBody>
      </p:sp>
      <p:sp>
        <p:nvSpPr>
          <p:cNvPr id="100011" name="Item2b"/>
          <p:cNvSpPr txBox="1"/>
          <p:nvPr/>
        </p:nvSpPr>
        <p:spPr>
          <a:xfrm xmlns:a="http://schemas.openxmlformats.org/drawingml/2006/main">
            <a:off x="540000" y="2196000"/>
            <a:ext cx="50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555555"/>
                </a:solidFill>
                <a:latin typeface="Calibri"/>
                <a:ea typeface="Calibri"/>
              </a:rPr>
              <a:t>21 scenarios, 5 modules, git tag selenium-baseline-v1</a:t>
            </a:r>
          </a:p>
        </p:txBody>
      </p:sp>
      <p:sp>
        <p:nvSpPr>
          <p:cNvPr id="100012" name="Item3"/>
          <p:cNvSpPr txBox="1"/>
          <p:nvPr/>
        </p:nvSpPr>
        <p:spPr>
          <a:xfrm xmlns:a="http://schemas.openxmlformats.org/drawingml/2006/main">
            <a:off x="6120000" y="1152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E3A5F"/>
                </a:solidFill>
                <a:latin typeface="Calibri"/>
                <a:ea typeface="Calibri"/>
              </a:rPr>
              <a:t>03  IBM BOB Migration</a:t>
            </a:r>
          </a:p>
        </p:txBody>
      </p:sp>
      <p:sp>
        <p:nvSpPr>
          <p:cNvPr id="100013" name="Item3b"/>
          <p:cNvSpPr txBox="1"/>
          <p:nvPr/>
        </p:nvSpPr>
        <p:spPr>
          <a:xfrm xmlns:a="http://schemas.openxmlformats.org/drawingml/2006/main">
            <a:off x="6120000" y="1476000"/>
            <a:ext cx="50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555555"/>
                </a:solidFill>
                <a:latin typeface="Calibri"/>
                <a:ea typeface="Calibri"/>
              </a:rPr>
              <a:t>Converting Login + Products modules to Playwright TS</a:t>
            </a:r>
          </a:p>
        </p:txBody>
      </p:sp>
      <p:sp>
        <p:nvSpPr>
          <p:cNvPr id="100014" name="Item4"/>
          <p:cNvSpPr txBox="1"/>
          <p:nvPr/>
        </p:nvSpPr>
        <p:spPr>
          <a:xfrm xmlns:a="http://schemas.openxmlformats.org/drawingml/2006/main">
            <a:off x="6120000" y="1872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E3A5F"/>
                </a:solidFill>
                <a:latin typeface="Calibri"/>
                <a:ea typeface="Calibri"/>
              </a:rPr>
              <a:t>04  Side-by-Side Comparison</a:t>
            </a:r>
          </a:p>
        </p:txBody>
      </p:sp>
      <p:sp>
        <p:nvSpPr>
          <p:cNvPr id="100015" name="Item4b"/>
          <p:cNvSpPr txBox="1"/>
          <p:nvPr/>
        </p:nvSpPr>
        <p:spPr>
          <a:xfrm xmlns:a="http://schemas.openxmlformats.org/drawingml/2006/main">
            <a:off x="6120000" y="2196000"/>
            <a:ext cx="50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555555"/>
                </a:solidFill>
                <a:latin typeface="Calibri"/>
                <a:ea typeface="Calibri"/>
              </a:rPr>
              <a:t>Java vs TypeScript — code, waits, assertions</a:t>
            </a:r>
          </a:p>
        </p:txBody>
      </p:sp>
      <p:sp>
        <p:nvSpPr>
          <p:cNvPr id="100016" name="Item5"/>
          <p:cNvSpPr txBox="1"/>
          <p:nvPr/>
        </p:nvSpPr>
        <p:spPr>
          <a:xfrm xmlns:a="http://schemas.openxmlformats.org/drawingml/2006/main">
            <a:off x="540000" y="270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E3A5F"/>
                </a:solidFill>
                <a:latin typeface="Calibri"/>
                <a:ea typeface="Calibri"/>
              </a:rPr>
              <a:t>05  Live Results  +  Key Takeaways</a:t>
            </a:r>
          </a:p>
        </p:txBody>
      </p:sp>
      <p:sp>
        <p:nvSpPr>
          <p:cNvPr id="100017" name="BottomBar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C8A415"/>
              </a:solidFill>
            </a:endParaRP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8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19" name="SlideLabel"/>
          <p:cNvSpPr txBox="1"/>
          <p:nvPr/>
        </p:nvSpPr>
        <p:spPr>
          <a:xfrm xmlns:a="http://schemas.openxmlformats.org/drawingml/2006/main">
            <a:off x="540000" y="36000"/>
            <a:ext cx="54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PROJECT OVERVIEW</a:t>
            </a:r>
          </a:p>
        </p:txBody>
      </p:sp>
      <p:sp>
        <p:nvSpPr>
          <p:cNvPr id="100020" name="Title"/>
          <p:cNvSpPr txBox="1"/>
          <p:nvPr/>
        </p:nvSpPr>
        <p:spPr>
          <a:xfrm xmlns:a="http://schemas.openxmlformats.org/drawingml/2006/main">
            <a:off x="540000" y="432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E3A5F"/>
                </a:solidFill>
                <a:latin typeface="Calibri"/>
                <a:ea typeface="Calibri"/>
              </a:rPr>
              <a:t>The Starting Point — Selenium Java Framework</a:t>
            </a:r>
          </a:p>
        </p:txBody>
      </p:sp>
      <p:sp>
        <p:nvSpPr>
          <p:cNvPr id="100021" name="Box1"/>
          <p:cNvSpPr txBox="1"/>
          <p:nvPr/>
        </p:nvSpPr>
        <p:spPr>
          <a:xfrm xmlns:a="http://schemas.openxmlformats.org/drawingml/2006/main">
            <a:off x="540000" y="1080000"/>
            <a:ext cx="34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Application Under Test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SauceDemo (saucedemo.com)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A standard e-commerce demo app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used industry-wide for automation training</a:t>
            </a:r>
          </a:p>
        </p:txBody>
      </p:sp>
      <p:sp>
        <p:nvSpPr>
          <p:cNvPr id="100022" name="Box2"/>
          <p:cNvSpPr txBox="1"/>
          <p:nvPr/>
        </p:nvSpPr>
        <p:spPr>
          <a:xfrm xmlns:a="http://schemas.openxmlformats.org/drawingml/2006/main">
            <a:off x="4320000" y="1080000"/>
            <a:ext cx="34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Framework Stack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Selenium 4.18  +  Java 24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Cucumber BDD  +  TestNG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Maven build tool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ExtentReports  +  Log4j2</a:t>
            </a:r>
          </a:p>
        </p:txBody>
      </p:sp>
      <p:sp>
        <p:nvSpPr>
          <p:cNvPr id="100023" name="Box3"/>
          <p:cNvSpPr txBox="1"/>
          <p:nvPr/>
        </p:nvSpPr>
        <p:spPr>
          <a:xfrm xmlns:a="http://schemas.openxmlformats.org/drawingml/2006/main">
            <a:off x="8100000" y="1080000"/>
            <a:ext cx="34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Test Coverage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5 modules:  Login, Products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Cart, Checkout, Logout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21 scenarios total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BDD .feature files</a:t>
            </a:r>
          </a:p>
        </p:txBody>
      </p:sp>
      <p:sp>
        <p:nvSpPr>
          <p:cNvPr id="100024" name="Goal"/>
          <p:cNvSpPr txBox="1"/>
          <p:nvPr/>
        </p:nvSpPr>
        <p:spPr>
          <a:xfrm xmlns:a="http://schemas.openxmlformats.org/drawingml/2006/main">
            <a:off x="540000" y="3600000"/>
            <a:ext cx="108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alibri"/>
                <a:ea typeface="Calibri"/>
              </a:rPr>
              <a:t>Goal:  Reach 21/21 passing as a measurable Selenium baseline, then migrate each module to Playwright TypeScript using IBM BOB.</a:t>
            </a:r>
          </a:p>
        </p:txBody>
      </p:sp>
      <p:sp>
        <p:nvSpPr>
          <p:cNvPr id="100025" name="BottomBar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C8A415"/>
              </a:solidFill>
            </a:endParaRP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6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27" name="SlideLabel"/>
          <p:cNvSpPr txBox="1"/>
          <p:nvPr/>
        </p:nvSpPr>
        <p:spPr>
          <a:xfrm xmlns:a="http://schemas.openxmlformats.org/drawingml/2006/main">
            <a:off x="540000" y="36000"/>
            <a:ext cx="54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SELENIUM BASELINE</a:t>
            </a:r>
          </a:p>
        </p:txBody>
      </p:sp>
      <p:sp>
        <p:nvSpPr>
          <p:cNvPr id="100028" name="Title"/>
          <p:cNvSpPr txBox="1"/>
          <p:nvPr/>
        </p:nvSpPr>
        <p:spPr>
          <a:xfrm xmlns:a="http://schemas.openxmlformats.org/drawingml/2006/main">
            <a:off x="540000" y="432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E3A5F"/>
                </a:solidFill>
                <a:latin typeface="Calibri"/>
                <a:ea typeface="Calibri"/>
              </a:rPr>
              <a:t>Bugs Fixed to Reach 21/21</a:t>
            </a:r>
          </a:p>
        </p:txBody>
      </p:sp>
      <p:sp>
        <p:nvSpPr>
          <p:cNvPr id="100029" name="BugLabel"/>
          <p:cNvSpPr txBox="1"/>
          <p:nvPr/>
        </p:nvSpPr>
        <p:spPr>
          <a:xfrm xmlns:a="http://schemas.openxmlformats.org/drawingml/2006/main">
            <a:off x="540000" y="1080000"/>
            <a:ext cx="14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Bug</a:t>
            </a:r>
          </a:p>
        </p:txBody>
      </p:sp>
      <p:sp>
        <p:nvSpPr>
          <p:cNvPr id="100030" name="FixLabel"/>
          <p:cNvSpPr txBox="1"/>
          <p:nvPr/>
        </p:nvSpPr>
        <p:spPr>
          <a:xfrm xmlns:a="http://schemas.openxmlformats.org/drawingml/2006/main">
            <a:off x="2160000" y="1080000"/>
            <a:ext cx="36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B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Fix Applied</a:t>
            </a:r>
          </a:p>
        </p:txBody>
      </p:sp>
      <p:sp>
        <p:nvSpPr>
          <p:cNvPr id="100031" name="B1"/>
          <p:cNvSpPr txBox="1"/>
          <p:nvPr/>
        </p:nvSpPr>
        <p:spPr>
          <a:xfrm xmlns:a="http://schemas.openxmlformats.org/drawingml/2006/main">
            <a:off x="540000" y="1404000"/>
            <a:ext cx="1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Stale driver in step definitions</a:t>
            </a:r>
          </a:p>
        </p:txBody>
      </p:sp>
      <p:sp>
        <p:nvSpPr>
          <p:cNvPr id="100032" name="F1"/>
          <p:cNvSpPr txBox="1"/>
          <p:nvPr/>
        </p:nvSpPr>
        <p:spPr>
          <a:xfrm xmlns:a="http://schemas.openxmlformats.org/drawingml/2006/main">
            <a:off x="2160000" y="1404000"/>
            <a:ext cx="90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Page objects resolved fresh per step via method — never captured as fields</a:t>
            </a:r>
          </a:p>
        </p:txBody>
      </p:sp>
      <p:sp>
        <p:nvSpPr>
          <p:cNvPr id="100033" name="B2"/>
          <p:cNvSpPr txBox="1"/>
          <p:nvPr/>
        </p:nvSpPr>
        <p:spPr>
          <a:xfrm xmlns:a="http://schemas.openxmlformats.org/drawingml/2006/main">
            <a:off x="540000" y="1800000"/>
            <a:ext cx="1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Wrong CSS selector for sort dropdown</a:t>
            </a:r>
          </a:p>
        </p:txBody>
      </p:sp>
      <p:sp>
        <p:nvSpPr>
          <p:cNvPr id="100034" name="F2"/>
          <p:cNvSpPr txBox="1"/>
          <p:nvPr/>
        </p:nvSpPr>
        <p:spPr>
          <a:xfrm xmlns:a="http://schemas.openxmlformats.org/drawingml/2006/main">
            <a:off x="2160000" y="1800000"/>
            <a:ext cx="90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Changed [data-test='product_sort_container'] to select.product_sort_container</a:t>
            </a:r>
          </a:p>
        </p:txBody>
      </p:sp>
      <p:sp>
        <p:nvSpPr>
          <p:cNvPr id="100035" name="B3"/>
          <p:cNvSpPr txBox="1"/>
          <p:nvPr/>
        </p:nvSpPr>
        <p:spPr>
          <a:xfrm xmlns:a="http://schemas.openxmlformats.org/drawingml/2006/main">
            <a:off x="540000" y="2196000"/>
            <a:ext cx="1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Chrome password dialog blocking tests</a:t>
            </a:r>
          </a:p>
        </p:txBody>
      </p:sp>
      <p:sp>
        <p:nvSpPr>
          <p:cNvPr id="100036" name="F3"/>
          <p:cNvSpPr txBox="1"/>
          <p:nvPr/>
        </p:nvSpPr>
        <p:spPr>
          <a:xfrm xmlns:a="http://schemas.openxmlformats.org/drawingml/2006/main">
            <a:off x="2160000" y="2196000"/>
            <a:ext cx="90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Added HashMap prefs + --disable-features=PasswordLeakDetection to ChromeOptions</a:t>
            </a:r>
          </a:p>
        </p:txBody>
      </p:sp>
      <p:sp>
        <p:nvSpPr>
          <p:cNvPr id="100037" name="B4"/>
          <p:cNvSpPr txBox="1"/>
          <p:nvPr/>
        </p:nvSpPr>
        <p:spPr>
          <a:xfrm xmlns:a="http://schemas.openxmlformats.org/drawingml/2006/main">
            <a:off x="540000" y="2592000"/>
            <a:ext cx="1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Cart page not loaded before checkout</a:t>
            </a:r>
          </a:p>
        </p:txBody>
      </p:sp>
      <p:sp>
        <p:nvSpPr>
          <p:cNvPr id="100038" name="F4"/>
          <p:cNvSpPr txBox="1"/>
          <p:nvPr/>
        </p:nvSpPr>
        <p:spPr>
          <a:xfrm xmlns:a="http://schemas.openxmlformats.org/drawingml/2006/main">
            <a:off x="2160000" y="2592000"/>
            <a:ext cx="90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goToCart() now waits for urlContains('cart.html') before returning</a:t>
            </a:r>
          </a:p>
        </p:txBody>
      </p:sp>
      <p:sp>
        <p:nvSpPr>
          <p:cNvPr id="100039" name="B5"/>
          <p:cNvSpPr txBox="1"/>
          <p:nvPr/>
        </p:nvSpPr>
        <p:spPr>
          <a:xfrm xmlns:a="http://schemas.openxmlformats.org/drawingml/2006/main">
            <a:off x="540000" y="2988000"/>
            <a:ext cx="1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NoSuchElement on all interactions</a:t>
            </a:r>
          </a:p>
        </p:txBody>
      </p:sp>
      <p:sp>
        <p:nvSpPr>
          <p:cNvPr id="100040" name="F5"/>
          <p:cNvSpPr txBox="1"/>
          <p:nvPr/>
        </p:nvSpPr>
        <p:spPr>
          <a:xfrm xmlns:a="http://schemas.openxmlformats.org/drawingml/2006/main">
            <a:off x="2160000" y="2988000"/>
            <a:ext cx="90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BasePage.click/type/getText upgraded to WebDriverWait(10s) explicit waits</a:t>
            </a:r>
          </a:p>
        </p:txBody>
      </p:sp>
      <p:sp>
        <p:nvSpPr>
          <p:cNvPr id="100041" name="Result"/>
          <p:cNvSpPr txBox="1"/>
          <p:nvPr/>
        </p:nvSpPr>
        <p:spPr>
          <a:xfrm xmlns:a="http://schemas.openxmlformats.org/drawingml/2006/main">
            <a:off x="540000" y="3600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Result:  21/21 passing   git tag selenium-baseline-v1   Total run time: 3 min 21 sec</a:t>
            </a:r>
          </a:p>
        </p:txBody>
      </p:sp>
      <p:sp>
        <p:nvSpPr>
          <p:cNvPr id="100042" name="BottomBar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C8A415"/>
              </a:solidFill>
            </a:endParaRP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43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C8A415"/>
              </a:solidFill>
            </a:endParaRPr>
          </a:p>
        </p:txBody>
      </p:sp>
      <p:sp>
        <p:nvSpPr>
          <p:cNvPr id="100044" name="SectionNum"/>
          <p:cNvSpPr txBox="1"/>
          <p:nvPr/>
        </p:nvSpPr>
        <p:spPr>
          <a:xfrm xmlns:a="http://schemas.openxmlformats.org/drawingml/2006/main">
            <a:off x="540000" y="10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C8A415"/>
                </a:solidFill>
                <a:latin typeface="Calibri"/>
                <a:ea typeface="Calibri"/>
              </a:rPr>
              <a:t>SECTION 02</a:t>
            </a:r>
          </a:p>
        </p:txBody>
      </p:sp>
      <p:sp>
        <p:nvSpPr>
          <p:cNvPr id="100045" name="SectionTitle"/>
          <p:cNvSpPr txBox="1"/>
          <p:nvPr/>
        </p:nvSpPr>
        <p:spPr>
          <a:xfrm xmlns:a="http://schemas.openxmlformats.org/drawingml/2006/main">
            <a:off x="540000" y="162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  <a:latin typeface="Calibri"/>
                <a:ea typeface="Calibri"/>
              </a:rPr>
              <a:t>IBM BOB Migration</a:t>
            </a:r>
          </a:p>
        </p:txBody>
      </p:sp>
      <p:sp>
        <p:nvSpPr>
          <p:cNvPr id="100046" name="SectionSub"/>
          <p:cNvSpPr txBox="1"/>
          <p:nvPr/>
        </p:nvSpPr>
        <p:spPr>
          <a:xfrm xmlns:a="http://schemas.openxmlformats.org/drawingml/2006/main">
            <a:off x="540000" y="2880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AAAAAA"/>
                </a:solidFill>
                <a:latin typeface="Calibri"/>
                <a:ea typeface="Calibri"/>
              </a:rPr>
              <a:t>Converting Selenium Java to Playwright TypeScript — module by module</a:t>
            </a:r>
          </a:p>
        </p:txBody>
      </p:sp>
      <p:sp>
        <p:nvSpPr>
          <p:cNvPr id="100047" name="BottomBar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C8A415"/>
              </a:solidFill>
            </a:endParaRP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8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49" name="SlideLabel"/>
          <p:cNvSpPr txBox="1"/>
          <p:nvPr/>
        </p:nvSpPr>
        <p:spPr>
          <a:xfrm xmlns:a="http://schemas.openxmlformats.org/drawingml/2006/main">
            <a:off x="540000" y="36000"/>
            <a:ext cx="54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IBM BOB MIGRATION</a:t>
            </a:r>
          </a:p>
        </p:txBody>
      </p:sp>
      <p:sp>
        <p:nvSpPr>
          <p:cNvPr id="100050" name="Title"/>
          <p:cNvSpPr txBox="1"/>
          <p:nvPr/>
        </p:nvSpPr>
        <p:spPr>
          <a:xfrm xmlns:a="http://schemas.openxmlformats.org/drawingml/2006/main">
            <a:off x="540000" y="432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E3A5F"/>
                </a:solidFill>
                <a:latin typeface="Calibri"/>
                <a:ea typeface="Calibri"/>
              </a:rPr>
              <a:t>Migration Approach — What IBM BOB Does</a:t>
            </a:r>
          </a:p>
        </p:txBody>
      </p:sp>
      <p:sp>
        <p:nvSpPr>
          <p:cNvPr id="100051" name="Step1"/>
          <p:cNvSpPr txBox="1"/>
          <p:nvPr/>
        </p:nvSpPr>
        <p:spPr>
          <a:xfrm xmlns:a="http://schemas.openxmlformats.org/drawingml/2006/main">
            <a:off x="540000" y="1116000"/>
            <a:ext cx="252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STEP 1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Read the source files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BOB reads LoginPage.java, LoginSteps.java and login.feature to understand every locator, method, step definition and assertion.</a:t>
            </a:r>
          </a:p>
        </p:txBody>
      </p:sp>
      <p:sp>
        <p:nvSpPr>
          <p:cNvPr id="100052" name="Step2"/>
          <p:cNvSpPr txBox="1"/>
          <p:nvPr/>
        </p:nvSpPr>
        <p:spPr>
          <a:xfrm xmlns:a="http://schemas.openxmlformats.org/drawingml/2006/main">
            <a:off x="3420000" y="1116000"/>
            <a:ext cx="252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STEP 2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Map Java to TypeScript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By.id   =&gt;   #id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By.cssSelector   =&gt;   locator()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WebDriverWait   =&gt;   auto-wait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new Select()   =&gt;   selectOption()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Assert.assertEquals   =&gt;   expect().toBe()</a:t>
            </a:r>
          </a:p>
        </p:txBody>
      </p:sp>
      <p:sp>
        <p:nvSpPr>
          <p:cNvPr id="100053" name="Step3"/>
          <p:cNvSpPr txBox="1"/>
          <p:nvPr/>
        </p:nvSpPr>
        <p:spPr>
          <a:xfrm xmlns:a="http://schemas.openxmlformats.org/drawingml/2006/main">
            <a:off x="6300000" y="1116000"/>
            <a:ext cx="252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STEP 3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Generate output files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login.page.ts — page object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login.spec.ts — test spec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All scenarios from .feature mapped 1-to-1 as test() blocks.</a:t>
            </a:r>
          </a:p>
        </p:txBody>
      </p:sp>
      <p:sp>
        <p:nvSpPr>
          <p:cNvPr id="100054" name="Step4"/>
          <p:cNvSpPr txBox="1"/>
          <p:nvPr/>
        </p:nvSpPr>
        <p:spPr>
          <a:xfrm xmlns:a="http://schemas.openxmlformats.org/drawingml/2006/main">
            <a:off x="9180000" y="1116000"/>
            <a:ext cx="234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STEP 4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Run and verify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npx playwright test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Debug failures live</a:t>
            </a:r>
          </a:p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Fix and re-run until all pass. Commit to git.</a:t>
            </a:r>
          </a:p>
        </p:txBody>
      </p:sp>
      <p:sp>
        <p:nvSpPr>
          <p:cNvPr id="100055" name="KeyPoint"/>
          <p:cNvSpPr txBox="1"/>
          <p:nvPr/>
        </p:nvSpPr>
        <p:spPr>
          <a:xfrm xmlns:a="http://schemas.openxmlformats.org/drawingml/2006/main">
            <a:off x="540000" y="3780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IBM BOB reads and writes code like a senior engineer — every change is grounded in the actual source files, never hallucinated.</a:t>
            </a:r>
          </a:p>
        </p:txBody>
      </p:sp>
      <p:sp>
        <p:nvSpPr>
          <p:cNvPr id="100056" name="BottomBar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C8A415"/>
              </a:solidFill>
            </a:endParaRP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7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58" name="SlideLabel"/>
          <p:cNvSpPr txBox="1"/>
          <p:nvPr/>
        </p:nvSpPr>
        <p:spPr>
          <a:xfrm xmlns:a="http://schemas.openxmlformats.org/drawingml/2006/main">
            <a:off x="540000" y="36000"/>
            <a:ext cx="54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CODE COMPARISON</a:t>
            </a:r>
          </a:p>
        </p:txBody>
      </p:sp>
      <p:sp>
        <p:nvSpPr>
          <p:cNvPr id="100059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E3A5F"/>
                </a:solidFill>
                <a:latin typeface="Calibri"/>
                <a:ea typeface="Calibri"/>
              </a:rPr>
              <a:t>Login Page Object — Java vs TypeScript</a:t>
            </a:r>
          </a:p>
        </p:txBody>
      </p:sp>
      <p:sp>
        <p:nvSpPr>
          <p:cNvPr id="100060" name="JavaHeader"/>
          <p:cNvSpPr txBox="1"/>
          <p:nvPr/>
        </p:nvSpPr>
        <p:spPr>
          <a:xfrm xmlns:a="http://schemas.openxmlformats.org/drawingml/2006/main">
            <a:off x="540000" y="972000"/>
            <a:ext cx="52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LoginPage.java  (Selenium)</a:t>
            </a:r>
          </a:p>
        </p:txBody>
      </p:sp>
      <p:sp>
        <p:nvSpPr>
          <p:cNvPr id="100061" name="JavaCode"/>
          <p:cNvSpPr txBox="1"/>
          <p:nvPr/>
        </p:nvSpPr>
        <p:spPr>
          <a:xfrm xmlns:a="http://schemas.openxmlformats.org/drawingml/2006/main">
            <a:off x="540000" y="1260000"/>
            <a:ext cx="522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private By username = By.id("user-name");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private By loginBtn = By.id("login-button");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public void login(String u, String p) {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type(username, u);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type(password, p);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click(loginBtn);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new WebDriverWait(driver, Duration.ofSeconds(15))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.until(ExpectedConditions.or(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  urlContains("inventory.html"),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  visibilityOf(errorLocator)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));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}</a:t>
            </a:r>
          </a:p>
        </p:txBody>
      </p:sp>
      <p:sp>
        <p:nvSpPr>
          <p:cNvPr id="100062" name="TSHeader"/>
          <p:cNvSpPr txBox="1"/>
          <p:nvPr/>
        </p:nvSpPr>
        <p:spPr>
          <a:xfrm xmlns:a="http://schemas.openxmlformats.org/drawingml/2006/main">
            <a:off x="6300000" y="972000"/>
            <a:ext cx="52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B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login.page.ts  (Playwright)</a:t>
            </a:r>
          </a:p>
        </p:txBody>
      </p:sp>
      <p:sp>
        <p:nvSpPr>
          <p:cNvPr id="100063" name="TSCode"/>
          <p:cNvSpPr txBox="1"/>
          <p:nvPr/>
        </p:nvSpPr>
        <p:spPr>
          <a:xfrm xmlns:a="http://schemas.openxmlformats.org/drawingml/2006/main">
            <a:off x="6300000" y="1260000"/>
            <a:ext cx="522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private usernameInput = page.locator('#user-name');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private loginButton   = page.locator('#login-button');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async login(username: string, password: string) {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await this.usernameInput.fill(username);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await this.passwordInput.fill(password);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await this.loginButton.click();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await Promise.race([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page.waitForURL('**/inventory.html'),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this.errorMessage.waitFor({ state: 'visible' })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]);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}</a:t>
            </a:r>
          </a:p>
        </p:txBody>
      </p:sp>
      <p:sp>
        <p:nvSpPr>
          <p:cNvPr id="100064" name="Insight1"/>
          <p:cNvSpPr txBox="1"/>
          <p:nvPr/>
        </p:nvSpPr>
        <p:spPr>
          <a:xfrm xmlns:a="http://schemas.openxmlformats.org/drawingml/2006/main">
            <a:off x="540000" y="3780000"/>
            <a:ext cx="52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  <a:latin typeface="Calibri"/>
                <a:ea typeface="Calibri"/>
              </a:rPr>
              <a:t>By.id("x")  =  page.locator('#x')</a:t>
            </a:r>
          </a:p>
        </p:txBody>
      </p:sp>
      <p:sp>
        <p:nvSpPr>
          <p:cNvPr id="100065" name="Insight2"/>
          <p:cNvSpPr txBox="1"/>
          <p:nvPr/>
        </p:nvSpPr>
        <p:spPr>
          <a:xfrm xmlns:a="http://schemas.openxmlformats.org/drawingml/2006/main">
            <a:off x="6300000" y="3780000"/>
            <a:ext cx="52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  <a:latin typeface="Calibri"/>
                <a:ea typeface="Calibri"/>
              </a:rPr>
              <a:t>WebDriverWait(15s)  =  Promise.race auto-wait</a:t>
            </a:r>
          </a:p>
        </p:txBody>
      </p:sp>
      <p:sp>
        <p:nvSpPr>
          <p:cNvPr id="100066" name="BottomBar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C8A415"/>
              </a:solidFill>
            </a:endParaRP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7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68" name="SlideLabel"/>
          <p:cNvSpPr txBox="1"/>
          <p:nvPr/>
        </p:nvSpPr>
        <p:spPr>
          <a:xfrm xmlns:a="http://schemas.openxmlformats.org/drawingml/2006/main">
            <a:off x="540000" y="36000"/>
            <a:ext cx="54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CODE COMPARISON</a:t>
            </a:r>
          </a:p>
        </p:txBody>
      </p:sp>
      <p:sp>
        <p:nvSpPr>
          <p:cNvPr id="100069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E3A5F"/>
                </a:solidFill>
                <a:latin typeface="Calibri"/>
                <a:ea typeface="Calibri"/>
              </a:rPr>
              <a:t>Feature File vs Playwright Spec</a:t>
            </a:r>
          </a:p>
        </p:txBody>
      </p:sp>
      <p:sp>
        <p:nvSpPr>
          <p:cNvPr id="100070" name="FeatureHeader"/>
          <p:cNvSpPr txBox="1"/>
          <p:nvPr/>
        </p:nvSpPr>
        <p:spPr>
          <a:xfrm xmlns:a="http://schemas.openxmlformats.org/drawingml/2006/main">
            <a:off x="540000" y="972000"/>
            <a:ext cx="52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login.feature  (Cucumber BDD)</a:t>
            </a:r>
          </a:p>
        </p:txBody>
      </p:sp>
      <p:sp>
        <p:nvSpPr>
          <p:cNvPr id="100071" name="FeatureCode"/>
          <p:cNvSpPr txBox="1"/>
          <p:nvPr/>
        </p:nvSpPr>
        <p:spPr>
          <a:xfrm xmlns:a="http://schemas.openxmlformats.org/drawingml/2006/main">
            <a:off x="540000" y="1260000"/>
            <a:ext cx="522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Background: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Given the user navigates to the login page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Scenario: Successful login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When  the user logs in with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    username "standard_user"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    and password "secret_sauce"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Then  the user should be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    on the products page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Scenario: Failed login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When  the user logs in with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    username "standard_user"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    and password "wrong_password"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Then  the user should see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    an error message "Epic sadface..."</a:t>
            </a:r>
          </a:p>
        </p:txBody>
      </p:sp>
      <p:sp>
        <p:nvSpPr>
          <p:cNvPr id="100072" name="SpecHeader"/>
          <p:cNvSpPr txBox="1"/>
          <p:nvPr/>
        </p:nvSpPr>
        <p:spPr>
          <a:xfrm xmlns:a="http://schemas.openxmlformats.org/drawingml/2006/main">
            <a:off x="6300000" y="972000"/>
            <a:ext cx="52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B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login.spec.ts  (Playwright)</a:t>
            </a:r>
          </a:p>
        </p:txBody>
      </p:sp>
      <p:sp>
        <p:nvSpPr>
          <p:cNvPr id="100073" name="SpecCode"/>
          <p:cNvSpPr txBox="1"/>
          <p:nvPr/>
        </p:nvSpPr>
        <p:spPr>
          <a:xfrm xmlns:a="http://schemas.openxmlformats.org/drawingml/2006/main">
            <a:off x="6300000" y="1260000"/>
            <a:ext cx="522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test.beforeEach(async ({ page }) =&gt; {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await loginPage.navigate(BASE_URL);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});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test('Successful login', async ({ page }) =&gt; {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await loginPage.login(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'standard_user', 'secret_sauce'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expect(await loginPage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.isOnProductsPage()).toBeTruthy();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});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test('Failed login', async ({ page }) =&gt; {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await loginPage.login(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'standard_user', 'wrong_password'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expect(await loginPage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    .getErrorMessage()).toBe('Epic sadface...');</a:t>
            </a:r>
          </a:p>
          <a:p xmlns:a="http://schemas.openxmlformats.org/drawingml/2006/main"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</a:rPr>
              <a:t>});</a:t>
            </a:r>
          </a:p>
        </p:txBody>
      </p:sp>
      <p:sp>
        <p:nvSpPr>
          <p:cNvPr id="100074" name="Note"/>
          <p:cNvSpPr txBox="1"/>
          <p:nvPr/>
        </p:nvSpPr>
        <p:spPr>
          <a:xfrm xmlns:a="http://schemas.openxmlformats.org/drawingml/2006/main">
            <a:off x="540000" y="4320000"/>
            <a:ext cx="10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E3A5F"/>
                </a:solidFill>
                <a:latin typeface="Calibri"/>
                <a:ea typeface="Calibri"/>
              </a:rPr>
              <a:t>Background = beforeEach()     Scenario = test()     Then (assertion) = expect()</a:t>
            </a:r>
          </a:p>
        </p:txBody>
      </p:sp>
      <p:sp>
        <p:nvSpPr>
          <p:cNvPr id="100075" name="BottomBar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C8A415"/>
              </a:solidFill>
            </a:endParaRP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6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77" name="SlideLabel"/>
          <p:cNvSpPr txBox="1"/>
          <p:nvPr/>
        </p:nvSpPr>
        <p:spPr>
          <a:xfrm xmlns:a="http://schemas.openxmlformats.org/drawingml/2006/main">
            <a:off x="540000" y="36000"/>
            <a:ext cx="54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LIVE RESULTS</a:t>
            </a:r>
          </a:p>
        </p:txBody>
      </p:sp>
      <p:sp>
        <p:nvSpPr>
          <p:cNvPr id="100078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E3A5F"/>
                </a:solidFill>
                <a:latin typeface="Calibri"/>
                <a:ea typeface="Calibri"/>
              </a:rPr>
              <a:t>Test Results — Both Frameworks</a:t>
            </a:r>
          </a:p>
        </p:txBody>
      </p:sp>
      <p:sp>
        <p:nvSpPr>
          <p:cNvPr id="100079" name="SeleniumHeader"/>
          <p:cNvSpPr txBox="1"/>
          <p:nvPr/>
        </p:nvSpPr>
        <p:spPr>
          <a:xfrm xmlns:a="http://schemas.openxmlformats.org/drawingml/2006/main">
            <a:off x="540000" y="972000"/>
            <a:ext cx="52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Selenium Java  (selenium-baseline-v1)</a:t>
            </a:r>
          </a:p>
        </p:txBody>
      </p:sp>
      <p:sp>
        <p:nvSpPr>
          <p:cNvPr id="100080" name="SeleniumResults"/>
          <p:cNvSpPr txBox="1"/>
          <p:nvPr/>
        </p:nvSpPr>
        <p:spPr>
          <a:xfrm xmlns:a="http://schemas.openxmlformats.org/drawingml/2006/main">
            <a:off x="540000" y="1296000"/>
            <a:ext cx="522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Login: Successful login                  PASS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Login: Failed login - invalid password    PASS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Login: Failed login - locked-out user     PASS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Login: Failed login - blank username      PASS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Login: Failed login - blank password      PASS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Cart: Add single item                     PASS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Cart: Add multiple items                  PASS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Cart: Correct product name                PASS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Checkout: Successful checkout             PASS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Checkout: Total displayed                 PASS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Checkout: Missing first name error        PASS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Logout: Successfully                      PASS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Products: Page displayed after login      PASS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Products: Sort A to Z                     PASS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...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21 passed   Time: 3 min 21 sec</a:t>
            </a:r>
          </a:p>
        </p:txBody>
      </p:sp>
      <p:sp>
        <p:nvSpPr>
          <p:cNvPr id="100081" name="PlaywrightHeader"/>
          <p:cNvSpPr txBox="1"/>
          <p:nvPr/>
        </p:nvSpPr>
        <p:spPr>
          <a:xfrm xmlns:a="http://schemas.openxmlformats.org/drawingml/2006/main">
            <a:off x="6300000" y="972000"/>
            <a:ext cx="52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B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Playwright TypeScript  (Login + Products)</a:t>
            </a:r>
          </a:p>
        </p:txBody>
      </p:sp>
      <p:sp>
        <p:nvSpPr>
          <p:cNvPr id="100082" name="PlaywrightResults"/>
          <p:cNvSpPr txBox="1"/>
          <p:nvPr/>
        </p:nvSpPr>
        <p:spPr>
          <a:xfrm xmlns:a="http://schemas.openxmlformats.org/drawingml/2006/main">
            <a:off x="6300000" y="1296000"/>
            <a:ext cx="522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1  Login: Successful login                (3.7s)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2  Login: Failed login invalid password    (3.3s)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3  Login: Failed login locked-out user     (3.1s)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4  Login: Failed login blank username      (3.1s)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5  Login: Failed login blank password      (3.2s)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6  Login: Multiple user types [standard]   (3.5s)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7  Login: Multiple user types [problem]    (3.6s)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8  Products: Page displayed after login    (3.2s)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 9  Products: Products list not empty       (3.1s)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10  Products: Sort A to Z                   (3.1s)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11  Products: Sort Z to A                   (3.2s)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12  Products: Sort price low to high        (3.1s)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ok 13  Products: Sort price high to low        (3.4s)</a:t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22C55E"/>
                </a:solidFill>
                <a:latin typeface="Courier New"/>
                <a:ea typeface="Courier New"/>
              </a:rPr>
              <a:t>13 passed   Time: 45 sec</a:t>
            </a:r>
          </a:p>
        </p:txBody>
      </p:sp>
      <p:sp>
        <p:nvSpPr>
          <p:cNvPr id="100083" name="BottomBar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C8A415"/>
              </a:solidFill>
            </a:endParaRP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4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85" name="SlideLabel"/>
          <p:cNvSpPr txBox="1"/>
          <p:nvPr/>
        </p:nvSpPr>
        <p:spPr>
          <a:xfrm xmlns:a="http://schemas.openxmlformats.org/drawingml/2006/main">
            <a:off x="540000" y="36000"/>
            <a:ext cx="54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KEY TAKEAWAYS</a:t>
            </a:r>
          </a:p>
        </p:txBody>
      </p:sp>
      <p:sp>
        <p:nvSpPr>
          <p:cNvPr id="100086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E3A5F"/>
                </a:solidFill>
                <a:latin typeface="Calibri"/>
                <a:ea typeface="Calibri"/>
              </a:rPr>
              <a:t>Selenium vs Playwright — What Changed</a:t>
            </a:r>
          </a:p>
        </p:txBody>
      </p:sp>
      <p:sp>
        <p:nvSpPr>
          <p:cNvPr id="100087" name="ColH1"/>
          <p:cNvSpPr txBox="1"/>
          <p:nvPr/>
        </p:nvSpPr>
        <p:spPr>
          <a:xfrm xmlns:a="http://schemas.openxmlformats.org/drawingml/2006/main">
            <a:off x="540000" y="972000"/>
            <a:ext cx="288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Concept</a:t>
            </a:r>
          </a:p>
        </p:txBody>
      </p:sp>
      <p:sp>
        <p:nvSpPr>
          <p:cNvPr id="100088" name="ColH2"/>
          <p:cNvSpPr txBox="1"/>
          <p:nvPr/>
        </p:nvSpPr>
        <p:spPr>
          <a:xfrm xmlns:a="http://schemas.openxmlformats.org/drawingml/2006/main">
            <a:off x="3600000" y="972000"/>
            <a:ext cx="36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Selenium Java</a:t>
            </a:r>
          </a:p>
        </p:txBody>
      </p:sp>
      <p:sp>
        <p:nvSpPr>
          <p:cNvPr id="100089" name="ColH3"/>
          <p:cNvSpPr txBox="1"/>
          <p:nvPr/>
        </p:nvSpPr>
        <p:spPr>
          <a:xfrm xmlns:a="http://schemas.openxmlformats.org/drawingml/2006/main">
            <a:off x="7560000" y="972000"/>
            <a:ext cx="396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B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Playwright TypeScript</a:t>
            </a:r>
          </a:p>
        </p:txBody>
      </p:sp>
      <p:sp>
        <p:nvSpPr>
          <p:cNvPr id="100090" name="R1C1"/>
          <p:cNvSpPr txBox="1"/>
          <p:nvPr/>
        </p:nvSpPr>
        <p:spPr>
          <a:xfrm xmlns:a="http://schemas.openxmlformats.org/drawingml/2006/main">
            <a:off x="540000" y="1260000"/>
            <a:ext cx="28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Locator</a:t>
            </a:r>
          </a:p>
        </p:txBody>
      </p:sp>
      <p:sp>
        <p:nvSpPr>
          <p:cNvPr id="100091" name="R1C2"/>
          <p:cNvSpPr txBox="1"/>
          <p:nvPr/>
        </p:nvSpPr>
        <p:spPr>
          <a:xfrm xmlns:a="http://schemas.openxmlformats.org/drawingml/2006/main">
            <a:off x="3600000" y="1260000"/>
            <a:ext cx="36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By.id / By.cssSelector</a:t>
            </a:r>
          </a:p>
        </p:txBody>
      </p:sp>
      <p:sp>
        <p:nvSpPr>
          <p:cNvPr id="100092" name="R1C3"/>
          <p:cNvSpPr txBox="1"/>
          <p:nvPr/>
        </p:nvSpPr>
        <p:spPr>
          <a:xfrm xmlns:a="http://schemas.openxmlformats.org/drawingml/2006/main">
            <a:off x="7560000" y="1260000"/>
            <a:ext cx="39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page.locator('#id')</a:t>
            </a:r>
          </a:p>
        </p:txBody>
      </p:sp>
      <p:sp>
        <p:nvSpPr>
          <p:cNvPr id="100093" name="R2C1"/>
          <p:cNvSpPr txBox="1"/>
          <p:nvPr/>
        </p:nvSpPr>
        <p:spPr>
          <a:xfrm xmlns:a="http://schemas.openxmlformats.org/drawingml/2006/main">
            <a:off x="540000" y="1584000"/>
            <a:ext cx="28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Waiting</a:t>
            </a:r>
          </a:p>
        </p:txBody>
      </p:sp>
      <p:sp>
        <p:nvSpPr>
          <p:cNvPr id="100094" name="R2C2"/>
          <p:cNvSpPr txBox="1"/>
          <p:nvPr/>
        </p:nvSpPr>
        <p:spPr>
          <a:xfrm xmlns:a="http://schemas.openxmlformats.org/drawingml/2006/main">
            <a:off x="3600000" y="1584000"/>
            <a:ext cx="36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WebDriverWait(10s) explicit</a:t>
            </a:r>
          </a:p>
        </p:txBody>
      </p:sp>
      <p:sp>
        <p:nvSpPr>
          <p:cNvPr id="100095" name="R2C3"/>
          <p:cNvSpPr txBox="1"/>
          <p:nvPr/>
        </p:nvSpPr>
        <p:spPr>
          <a:xfrm xmlns:a="http://schemas.openxmlformats.org/drawingml/2006/main">
            <a:off x="7560000" y="1584000"/>
            <a:ext cx="39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Built-in auto-wait (no code)</a:t>
            </a:r>
          </a:p>
        </p:txBody>
      </p:sp>
      <p:sp>
        <p:nvSpPr>
          <p:cNvPr id="100096" name="R3C1"/>
          <p:cNvSpPr txBox="1"/>
          <p:nvPr/>
        </p:nvSpPr>
        <p:spPr>
          <a:xfrm xmlns:a="http://schemas.openxmlformats.org/drawingml/2006/main">
            <a:off x="540000" y="1908000"/>
            <a:ext cx="28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Assertion</a:t>
            </a:r>
          </a:p>
        </p:txBody>
      </p:sp>
      <p:sp>
        <p:nvSpPr>
          <p:cNvPr id="100097" name="R3C2"/>
          <p:cNvSpPr txBox="1"/>
          <p:nvPr/>
        </p:nvSpPr>
        <p:spPr>
          <a:xfrm xmlns:a="http://schemas.openxmlformats.org/drawingml/2006/main">
            <a:off x="3600000" y="1908000"/>
            <a:ext cx="36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Assert.assertEquals(a, b)</a:t>
            </a:r>
          </a:p>
        </p:txBody>
      </p:sp>
      <p:sp>
        <p:nvSpPr>
          <p:cNvPr id="100098" name="R3C3"/>
          <p:cNvSpPr txBox="1"/>
          <p:nvPr/>
        </p:nvSpPr>
        <p:spPr>
          <a:xfrm xmlns:a="http://schemas.openxmlformats.org/drawingml/2006/main">
            <a:off x="7560000" y="1908000"/>
            <a:ext cx="39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expect(a).toBe(b)</a:t>
            </a:r>
          </a:p>
        </p:txBody>
      </p:sp>
      <p:sp>
        <p:nvSpPr>
          <p:cNvPr id="100099" name="R4C1"/>
          <p:cNvSpPr txBox="1"/>
          <p:nvPr/>
        </p:nvSpPr>
        <p:spPr>
          <a:xfrm xmlns:a="http://schemas.openxmlformats.org/drawingml/2006/main">
            <a:off x="540000" y="2232000"/>
            <a:ext cx="28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Select dropdown</a:t>
            </a:r>
          </a:p>
        </p:txBody>
      </p:sp>
      <p:sp>
        <p:nvSpPr>
          <p:cNvPr id="100100" name="R4C2"/>
          <p:cNvSpPr txBox="1"/>
          <p:nvPr/>
        </p:nvSpPr>
        <p:spPr>
          <a:xfrm xmlns:a="http://schemas.openxmlformats.org/drawingml/2006/main">
            <a:off x="3600000" y="2232000"/>
            <a:ext cx="36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new Select(el).selectByVisibleText()</a:t>
            </a:r>
          </a:p>
        </p:txBody>
      </p:sp>
      <p:sp>
        <p:nvSpPr>
          <p:cNvPr id="100101" name="R4C3"/>
          <p:cNvSpPr txBox="1"/>
          <p:nvPr/>
        </p:nvSpPr>
        <p:spPr>
          <a:xfrm xmlns:a="http://schemas.openxmlformats.org/drawingml/2006/main">
            <a:off x="7560000" y="2232000"/>
            <a:ext cx="39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locator.selectOption({ label })</a:t>
            </a:r>
          </a:p>
        </p:txBody>
      </p:sp>
      <p:sp>
        <p:nvSpPr>
          <p:cNvPr id="100102" name="R5C1"/>
          <p:cNvSpPr txBox="1"/>
          <p:nvPr/>
        </p:nvSpPr>
        <p:spPr>
          <a:xfrm xmlns:a="http://schemas.openxmlformats.org/drawingml/2006/main">
            <a:off x="540000" y="2556000"/>
            <a:ext cx="28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Driver lifecycle</a:t>
            </a:r>
          </a:p>
        </p:txBody>
      </p:sp>
      <p:sp>
        <p:nvSpPr>
          <p:cNvPr id="100103" name="R5C2"/>
          <p:cNvSpPr txBox="1"/>
          <p:nvPr/>
        </p:nvSpPr>
        <p:spPr>
          <a:xfrm xmlns:a="http://schemas.openxmlformats.org/drawingml/2006/main">
            <a:off x="3600000" y="2556000"/>
            <a:ext cx="36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DriverFactory + ThreadLocal</a:t>
            </a:r>
          </a:p>
        </p:txBody>
      </p:sp>
      <p:sp>
        <p:nvSpPr>
          <p:cNvPr id="100104" name="R5C3"/>
          <p:cNvSpPr txBox="1"/>
          <p:nvPr/>
        </p:nvSpPr>
        <p:spPr>
          <a:xfrm xmlns:a="http://schemas.openxmlformats.org/drawingml/2006/main">
            <a:off x="7560000" y="2556000"/>
            <a:ext cx="39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Built-in: test({ page }) fixture</a:t>
            </a:r>
          </a:p>
        </p:txBody>
      </p:sp>
      <p:sp>
        <p:nvSpPr>
          <p:cNvPr id="100105" name="R6C1"/>
          <p:cNvSpPr txBox="1"/>
          <p:nvPr/>
        </p:nvSpPr>
        <p:spPr>
          <a:xfrm xmlns:a="http://schemas.openxmlformats.org/drawingml/2006/main">
            <a:off x="540000" y="2880000"/>
            <a:ext cx="28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Scenario Outline</a:t>
            </a:r>
          </a:p>
        </p:txBody>
      </p:sp>
      <p:sp>
        <p:nvSpPr>
          <p:cNvPr id="100106" name="R6C2"/>
          <p:cNvSpPr txBox="1"/>
          <p:nvPr/>
        </p:nvSpPr>
        <p:spPr>
          <a:xfrm xmlns:a="http://schemas.openxmlformats.org/drawingml/2006/main">
            <a:off x="3600000" y="2880000"/>
            <a:ext cx="36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Cucumber Examples table</a:t>
            </a:r>
          </a:p>
        </p:txBody>
      </p:sp>
      <p:sp>
        <p:nvSpPr>
          <p:cNvPr id="100107" name="R6C3"/>
          <p:cNvSpPr txBox="1"/>
          <p:nvPr/>
        </p:nvSpPr>
        <p:spPr>
          <a:xfrm xmlns:a="http://schemas.openxmlformats.org/drawingml/2006/main">
            <a:off x="7560000" y="2880000"/>
            <a:ext cx="39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for...of array over test cases</a:t>
            </a:r>
          </a:p>
        </p:txBody>
      </p:sp>
      <p:sp>
        <p:nvSpPr>
          <p:cNvPr id="100108" name="Speed"/>
          <p:cNvSpPr txBox="1"/>
          <p:nvPr/>
        </p:nvSpPr>
        <p:spPr>
          <a:xfrm xmlns:a="http://schemas.openxmlformats.org/drawingml/2006/main">
            <a:off x="540000" y="3600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alibri"/>
                <a:ea typeface="Calibri"/>
              </a:rPr>
              <a:t>Speed:   Selenium ~10 sec/test     Playwright ~3.5 sec/test   (3x faster)</a:t>
            </a:r>
          </a:p>
        </p:txBody>
      </p:sp>
      <p:sp>
        <p:nvSpPr>
          <p:cNvPr id="100109" name="BottomBar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C8A415"/>
              </a:solidFill>
            </a:endParaRP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10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111" name="SlideLabel"/>
          <p:cNvSpPr txBox="1"/>
          <p:nvPr/>
        </p:nvSpPr>
        <p:spPr>
          <a:xfrm xmlns:a="http://schemas.openxmlformats.org/drawingml/2006/main">
            <a:off x="540000" y="36000"/>
            <a:ext cx="54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NEXT STEPS</a:t>
            </a:r>
          </a:p>
        </p:txBody>
      </p:sp>
      <p:sp>
        <p:nvSpPr>
          <p:cNvPr id="100112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E3A5F"/>
                </a:solidFill>
                <a:latin typeface="Calibri"/>
                <a:ea typeface="Calibri"/>
              </a:rPr>
              <a:t>Migration Roadmap</a:t>
            </a:r>
          </a:p>
        </p:txBody>
      </p:sp>
      <p:sp>
        <p:nvSpPr>
          <p:cNvPr id="100113" name="Done"/>
          <p:cNvSpPr txBox="1"/>
          <p:nvPr/>
        </p:nvSpPr>
        <p:spPr>
          <a:xfrm xmlns:a="http://schemas.openxmlformats.org/drawingml/2006/main">
            <a:off x="540000" y="1080000"/>
            <a:ext cx="108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B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DONE</a:t>
            </a:r>
          </a:p>
        </p:txBody>
      </p:sp>
      <p:sp>
        <p:nvSpPr>
          <p:cNvPr id="100114" name="DoneItems"/>
          <p:cNvSpPr txBox="1"/>
          <p:nvPr/>
        </p:nvSpPr>
        <p:spPr>
          <a:xfrm xmlns:a="http://schemas.openxmlformats.org/drawingml/2006/main">
            <a:off x="1800000" y="1080000"/>
            <a:ext cx="288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Login module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7 / 7 passing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Products module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6 / 6 passing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Baseline tagged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selenium-baseline-v1</a:t>
            </a:r>
          </a:p>
        </p:txBody>
      </p:sp>
      <p:sp>
        <p:nvSpPr>
          <p:cNvPr id="100115" name="Next"/>
          <p:cNvSpPr txBox="1"/>
          <p:nvPr/>
        </p:nvSpPr>
        <p:spPr>
          <a:xfrm xmlns:a="http://schemas.openxmlformats.org/drawingml/2006/main">
            <a:off x="5040000" y="1080000"/>
            <a:ext cx="108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NEXT</a:t>
            </a:r>
          </a:p>
        </p:txBody>
      </p:sp>
      <p:sp>
        <p:nvSpPr>
          <p:cNvPr id="100116" name="NextItems"/>
          <p:cNvSpPr txBox="1"/>
          <p:nvPr/>
        </p:nvSpPr>
        <p:spPr>
          <a:xfrm xmlns:a="http://schemas.openxmlformats.org/drawingml/2006/main">
            <a:off x="6480000" y="1080000"/>
            <a:ext cx="252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Cart module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4 scenarios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Checkout module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3 scenarios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Logout module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2 scenarios</a:t>
            </a:r>
          </a:p>
        </p:txBody>
      </p:sp>
      <p:sp>
        <p:nvSpPr>
          <p:cNvPr id="100117" name="Future"/>
          <p:cNvSpPr txBox="1"/>
          <p:nvPr/>
        </p:nvSpPr>
        <p:spPr>
          <a:xfrm xmlns:a="http://schemas.openxmlformats.org/drawingml/2006/main">
            <a:off x="9360000" y="1080000"/>
            <a:ext cx="108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FUTURE</a:t>
            </a:r>
          </a:p>
        </p:txBody>
      </p:sp>
      <p:sp>
        <p:nvSpPr>
          <p:cNvPr id="100118" name="FutureItems"/>
          <p:cNvSpPr txBox="1"/>
          <p:nvPr/>
        </p:nvSpPr>
        <p:spPr>
          <a:xfrm xmlns:a="http://schemas.openxmlformats.org/drawingml/2006/main">
            <a:off x="10800000" y="1080000"/>
            <a:ext cx="108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CI / CD pipeline</a:t>
            </a:r>
          </a:p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Parallel execution</a:t>
            </a:r>
          </a:p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Cross-browser</a:t>
            </a:r>
          </a:p>
          <a:p xmlns:a="http://schemas.openxmlformats.org/drawingml/2006/main">
            <a:r>
              <a:rPr lang="en-US" sz="1300">
                <a:solidFill>
                  <a:srgbClr val="333333"/>
                </a:solidFill>
                <a:latin typeface="Calibri"/>
                <a:ea typeface="Calibri"/>
              </a:rPr>
              <a:t>Firefox + WebKit</a:t>
            </a:r>
          </a:p>
        </p:txBody>
      </p:sp>
      <p:sp>
        <p:nvSpPr>
          <p:cNvPr id="100119" name="Command"/>
          <p:cNvSpPr txBox="1"/>
          <p:nvPr/>
        </p:nvSpPr>
        <p:spPr>
          <a:xfrm xmlns:a="http://schemas.openxmlformats.org/drawingml/2006/main">
            <a:off x="540000" y="3600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To run today:   cd playwright-login   then   npx playwright test</a:t>
            </a:r>
          </a:p>
        </p:txBody>
      </p:sp>
      <p:sp>
        <p:nvSpPr>
          <p:cNvPr id="100120" name="BottomBar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C8A415"/>
              </a:solidFill>
            </a:endParaRP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121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C8A415"/>
              </a:solidFill>
            </a:endParaRPr>
          </a:p>
        </p:txBody>
      </p:sp>
      <p:sp>
        <p:nvSpPr>
          <p:cNvPr id="100122" name="ThankYou"/>
          <p:cNvSpPr txBox="1"/>
          <p:nvPr/>
        </p:nvSpPr>
        <p:spPr>
          <a:xfrm xmlns:a="http://schemas.openxmlformats.org/drawingml/2006/main">
            <a:off x="540000" y="126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200" b="1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100123" name="Sub"/>
          <p:cNvSpPr txBox="1"/>
          <p:nvPr/>
        </p:nvSpPr>
        <p:spPr>
          <a:xfrm xmlns:a="http://schemas.openxmlformats.org/drawingml/2006/main">
            <a:off x="540000" y="252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0">
                <a:solidFill>
                  <a:srgbClr val="C8A415"/>
                </a:solidFill>
                <a:latin typeface="Calibri"/>
                <a:ea typeface="Calibri"/>
              </a:rPr>
              <a:t>Questions and discussion welcome</a:t>
            </a:r>
          </a:p>
        </p:txBody>
      </p:sp>
      <p:sp>
        <p:nvSpPr>
          <p:cNvPr id="100124" name="Contact"/>
          <p:cNvSpPr txBox="1"/>
          <p:nvPr/>
        </p:nvSpPr>
        <p:spPr>
          <a:xfrm xmlns:a="http://schemas.openxmlformats.org/drawingml/2006/main">
            <a:off x="540000" y="360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AAAAAA"/>
                </a:solidFill>
                <a:latin typeface="Calibri"/>
                <a:ea typeface="Calibri"/>
              </a:rPr>
              <a:t>Deepthi Grandhi  |  September 2026  |  IBM BOB Migration POC</a:t>
            </a:r>
          </a:p>
        </p:txBody>
      </p:sp>
      <p:sp>
        <p:nvSpPr>
          <p:cNvPr id="100125" name="RepoNote"/>
          <p:cNvSpPr txBox="1"/>
          <p:nvPr/>
        </p:nvSpPr>
        <p:spPr>
          <a:xfrm xmlns:a="http://schemas.openxmlformats.org/drawingml/2006/main">
            <a:off x="540000" y="468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888888"/>
                </a:solidFill>
                <a:latin typeface="Calibri"/>
                <a:ea typeface="Calibri"/>
              </a:rPr>
              <a:t>Project: UIAutomationPOC  /  playwright-login    Git tag: selenium-baseline-v1</a:t>
            </a:r>
          </a:p>
        </p:txBody>
      </p:sp>
      <p:sp>
        <p:nvSpPr>
          <p:cNvPr id="100126" name="BottomBar"/>
          <p:cNvSpPr txBox="1"/>
          <p:nvPr/>
        </p:nvSpPr>
        <p:spPr>
          <a:xfrm xmlns:a="http://schemas.openxmlformats.org/drawingml/2006/main">
            <a:off x="0" y="6624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C8A415"/>
              </a:solidFill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2026-09-15T05:24:23Z</dcterms:created>
  <cp:lastModifiedBy>OfficeCLI</cp:lastModifiedBy>
  <dcterms:modified xsi:type="dcterms:W3CDTF">2026-09-15T05:24:23Z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1.0.150</vt:lpwstr>
  </op:property>
  <op:property fmtid="{D5CDD505-2E9C-101B-9397-08002B2CF9AE}" pid="3" name="OfficeCLI.LastModified">
    <vt:lpwstr xmlns:vt="http://schemas.openxmlformats.org/officeDocument/2006/docPropsVTypes">2026-09-15T05:28:11Z</vt:lpwstr>
  </op:property>
</op:Properties>
</file>